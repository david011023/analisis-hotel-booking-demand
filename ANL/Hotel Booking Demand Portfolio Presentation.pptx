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embeddedFontLst>
    <p:embeddedFont>
      <p:font typeface="Inter"/>
      <p:bold r:id="rId11"/>
    </p:embeddedFont>
    <p:embeddedFont>
      <p:font typeface="Plus Jakarta Sans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4237583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010816"/>
            <a:ext cx="3181350" cy="295275"/>
          </a:xfrm>
          <a:prstGeom prst="roundRect">
            <a:avLst>
              <a:gd name="adj" fmla="val 50000"/>
            </a:avLst>
          </a:prstGeom>
          <a:solidFill>
            <a:srgbClr val="372A23"/>
          </a:solidFill>
          <a:ln w="9525">
            <a:solidFill>
              <a:srgbClr val="6B4D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237583"/>
            <a:ext cx="109728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96541"/>
            <a:ext cx="133350" cy="1333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585245"/>
            <a:ext cx="171450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3650" y="4585245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585245"/>
            <a:ext cx="238125" cy="19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2534691"/>
            <a:ext cx="11251406" cy="5447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900" b="1" i="0" u="none">
                <a:solidFill>
                  <a:srgbClr val="FFFFFF"/>
                </a:solidFill>
                <a:latin typeface="Plus Jakarta Sans"/>
              </a:rPr>
              <a:t>Hotel Booking 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69902"/>
            <a:ext cx="7905750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Análisis predictivo de cancelaciones, comportamiento del cliente y optimización de KPIs de revenue (ADR &amp; RevPAR).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067966"/>
            <a:ext cx="29718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59E0B"/>
                </a:solidFill>
                <a:latin typeface="Inter"/>
              </a:rPr>
              <a:t>Caso de Estudio | Data Science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5250" y="2077491"/>
            <a:ext cx="1869281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Google Colab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50" y="4513808"/>
            <a:ext cx="166687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VOLUMEN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" y="4656683"/>
            <a:ext cx="16668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119,390 Registros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4513808"/>
            <a:ext cx="1785937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PROPIEDADES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8450" y="4656683"/>
            <a:ext cx="178593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City &amp; Resort Hotel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4425" y="4513808"/>
            <a:ext cx="2202656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4425" y="4656683"/>
            <a:ext cx="2202656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Python · DAX · SQL ·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14587"/>
            <a:ext cx="52959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462337"/>
            <a:ext cx="52959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510087"/>
            <a:ext cx="52959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61461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366236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710112"/>
            <a:ext cx="4572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162" y="2747962"/>
            <a:ext cx="23812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687" y="3795712"/>
            <a:ext cx="219075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975" y="4843462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ORIGEN DE LOS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Estructura del Dataset de Hospitalidad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9225" y="2633662"/>
            <a:ext cx="387548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City Hotel (Urbano)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9225" y="2871787"/>
            <a:ext cx="36909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Inter"/>
              </a:rPr>
              <a:t>66.4% del volumen total (~79,330 reservas)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681412"/>
            <a:ext cx="390048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Resort Hotel (Playa)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9225" y="3919537"/>
            <a:ext cx="371475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Inter"/>
              </a:rPr>
              <a:t>33.6% del volumen total (~40,060 reservas)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9225" y="4729162"/>
            <a:ext cx="476309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31 Variables Operativas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9225" y="4967287"/>
            <a:ext cx="45362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Inter"/>
              </a:rPr>
              <a:t>Lead time, tarifa ADR, canal, peticiones y cancelación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290762"/>
            <a:ext cx="3505200" cy="323850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290762"/>
            <a:ext cx="3505200" cy="323850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290762"/>
            <a:ext cx="3505200" cy="323850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7725" y="4938712"/>
            <a:ext cx="1590675" cy="276225"/>
          </a:xfrm>
          <a:prstGeom prst="roundRect">
            <a:avLst>
              <a:gd name="adj" fmla="val 27586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81525" y="4938712"/>
            <a:ext cx="1647825" cy="276225"/>
          </a:xfrm>
          <a:prstGeom prst="roundRect">
            <a:avLst>
              <a:gd name="adj" fmla="val 27586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315325" y="4938712"/>
            <a:ext cx="1504950" cy="276225"/>
          </a:xfrm>
          <a:prstGeom prst="roundRect">
            <a:avLst>
              <a:gd name="adj" fmla="val 27586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605087"/>
            <a:ext cx="495300" cy="495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5" y="2605087"/>
            <a:ext cx="495300" cy="4953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25" y="2605087"/>
            <a:ext cx="495300" cy="4953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747962"/>
            <a:ext cx="266700" cy="2095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2747962"/>
            <a:ext cx="209550" cy="2095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9625" y="2747962"/>
            <a:ext cx="266700" cy="209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PROPÓSITO COMERCIAL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Objetivos Estratégicos del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4995862"/>
            <a:ext cx="14573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Inter"/>
              </a:rPr>
              <a:t>Mitigación de Riesgo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5825" y="4995862"/>
            <a:ext cx="15144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Inter"/>
              </a:rPr>
              <a:t>Maximización EBITDA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4995862"/>
            <a:ext cx="1371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Inter"/>
              </a:rPr>
              <a:t>Optimización 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3290887"/>
            <a:ext cx="39754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Patrones de Cancelación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643312"/>
            <a:ext cx="312420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Identificación de disparadores en tiempo de anticipación y políticas de depósito.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525" y="3290887"/>
            <a:ext cx="39754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KPIs de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525" y="3643312"/>
            <a:ext cx="312420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Evaluación continua de tarifa promedio diaria (ADR) e ingresos por habitación (RevPAR).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5325" y="3290887"/>
            <a:ext cx="38766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Rendimiento de Canales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5325" y="3643312"/>
            <a:ext cx="312420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Comparativa de conversión y lealtad entre agencias online, corporativos y venta directa.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67012"/>
            <a:ext cx="5334000" cy="22098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438400"/>
            <a:ext cx="5334000" cy="2867025"/>
          </a:xfrm>
          <a:prstGeom prst="roundRect">
            <a:avLst>
              <a:gd name="adj" fmla="val 53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24625" y="3124200"/>
            <a:ext cx="4781550" cy="876300"/>
          </a:xfrm>
          <a:prstGeom prst="roundRect">
            <a:avLst>
              <a:gd name="adj" fmla="val 1086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24625" y="4152900"/>
            <a:ext cx="4781550" cy="876300"/>
          </a:xfrm>
          <a:prstGeom prst="roundRect">
            <a:avLst>
              <a:gd name="adj" fmla="val 1086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5825" y="3671887"/>
            <a:ext cx="4781550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85825" y="4138612"/>
            <a:ext cx="4781550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85825" y="4605337"/>
            <a:ext cx="4781550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24625" y="3124200"/>
            <a:ext cx="38100" cy="8763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24625" y="4152900"/>
            <a:ext cx="38100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85825" y="3671887"/>
            <a:ext cx="812750" cy="9525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85825" y="4138612"/>
            <a:ext cx="1529953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5825" y="4605337"/>
            <a:ext cx="2295078" cy="952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067050"/>
            <a:ext cx="171450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2738437"/>
            <a:ext cx="133350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ANÁLISIS DE FUGAS DE INGRESOS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Drivers Críticos de Cancelación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475" y="3043237"/>
            <a:ext cx="6015751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Tasa por Lead Time (Días)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4175" y="2714625"/>
            <a:ext cx="5457825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Impacto Tipo de Depósito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5125" y="3276600"/>
            <a:ext cx="54768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Inter"/>
              </a:rPr>
              <a:t>Sin Depósito (No Deposit)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5125" y="3476625"/>
            <a:ext cx="54768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EF4444"/>
                </a:solidFill>
                <a:latin typeface="Inter"/>
              </a:rPr>
              <a:t>36.7% Cancelación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125" y="3695700"/>
            <a:ext cx="54768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"/>
              </a:rPr>
              <a:t>Representa el 88% del volumen global de reservas.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5125" y="4305300"/>
            <a:ext cx="54768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Inter"/>
              </a:rPr>
              <a:t>No Reembolsable (Non Refund)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5125" y="4505325"/>
            <a:ext cx="54768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D97706"/>
                </a:solidFill>
                <a:latin typeface="Inter"/>
              </a:rPr>
              <a:t>98.8% Registrado*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5125" y="4724400"/>
            <a:ext cx="54768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"/>
              </a:rPr>
              <a:t>Sesgo por reservas masivas del segmento agencias grupal.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825" y="3452812"/>
            <a:ext cx="10096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0 - 30 Días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3452812"/>
            <a:ext cx="1559718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Inter"/>
              </a:rPr>
              <a:t>16.8% Cancelación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825" y="3919537"/>
            <a:ext cx="1066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31 - 90 Días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1025" y="3919537"/>
            <a:ext cx="159543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32.4% Cancelación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825" y="4386262"/>
            <a:ext cx="9620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&gt; 100 Días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125" y="4386262"/>
            <a:ext cx="154781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Inter"/>
              </a:rPr>
              <a:t>48.1% Cancelación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48000"/>
            <a:ext cx="10972800" cy="3352800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381125"/>
            <a:ext cx="3505200" cy="136207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1381125"/>
            <a:ext cx="3505200" cy="136207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1381125"/>
            <a:ext cx="3505200" cy="136207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7725" y="4710112"/>
            <a:ext cx="10496550" cy="1143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47725" y="5195887"/>
            <a:ext cx="10496550" cy="1143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7725" y="4710112"/>
            <a:ext cx="8502104" cy="114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7725" y="5195887"/>
            <a:ext cx="7662416" cy="114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371725"/>
            <a:ext cx="95250" cy="1238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5" y="2371725"/>
            <a:ext cx="123825" cy="1238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25" y="2371725"/>
            <a:ext cx="152400" cy="1238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MÉTRICAS DE RENDIMIENTO HOTELERO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Tablero de KPIs Financieros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4138612"/>
            <a:ext cx="113442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Comparativa ADR por Tipo de Propiedad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1619250"/>
            <a:ext cx="378618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Inter"/>
              </a:rPr>
              <a:t>ADR PROMEDIO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1847850"/>
            <a:ext cx="3786187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Inter"/>
              </a:rPr>
              <a:t>€101.83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2352675"/>
            <a:ext cx="3786187" cy="152400"/>
          </a:xfrm>
          <a:prstGeom prst="rect">
            <a:avLst/>
          </a:prstGeom>
          <a:noFill/>
        </p:spPr>
        <p:txBody>
          <a:bodyPr wrap="none" lIns="9525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A34A"/>
                </a:solidFill>
                <a:latin typeface="Inter"/>
              </a:rPr>
              <a:t>Tarifa Neta Diaria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525" y="1619250"/>
            <a:ext cx="378618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Inter"/>
              </a:rPr>
              <a:t>TASA DE CANCELACIÓN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525" y="1847850"/>
            <a:ext cx="3786187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DC2626"/>
                </a:solidFill>
                <a:latin typeface="Inter"/>
              </a:rPr>
              <a:t>37.0%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525" y="2352675"/>
            <a:ext cx="3786187" cy="152400"/>
          </a:xfrm>
          <a:prstGeom prst="rect">
            <a:avLst/>
          </a:prstGeom>
          <a:noFill/>
        </p:spPr>
        <p:txBody>
          <a:bodyPr wrap="none" lIns="123825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DC2626"/>
                </a:solidFill>
                <a:latin typeface="Inter"/>
              </a:rPr>
              <a:t>44,224 Cancelaciones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5325" y="1619250"/>
            <a:ext cx="378618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Inter"/>
              </a:rPr>
              <a:t>REVPAR AJUSTADO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5325" y="1847850"/>
            <a:ext cx="3786187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2563EB"/>
                </a:solidFill>
                <a:latin typeface="Inter"/>
              </a:rPr>
              <a:t>€64.15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5325" y="2352675"/>
            <a:ext cx="3786187" cy="152400"/>
          </a:xfrm>
          <a:prstGeom prst="rect">
            <a:avLst/>
          </a:prstGeom>
          <a:noFill/>
        </p:spPr>
        <p:txBody>
          <a:bodyPr wrap="none" lIns="15240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2563EB"/>
                </a:solidFill>
                <a:latin typeface="Inter"/>
              </a:rPr>
              <a:t>Ingreso / Hab. Disponible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725" y="4491037"/>
            <a:ext cx="2155031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City Hotel (ADR Promedio)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1350" y="4491037"/>
            <a:ext cx="8286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€105.30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4976812"/>
            <a:ext cx="2369343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Resort Hotel (ADR Promedio)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4976812"/>
            <a:ext cx="7715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€94.95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271712"/>
            <a:ext cx="2600325" cy="32385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271712"/>
            <a:ext cx="2600325" cy="32385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271712"/>
            <a:ext cx="2600325" cy="32385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271712"/>
            <a:ext cx="2600325" cy="323850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9625" y="4776787"/>
            <a:ext cx="2200275" cy="495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00450" y="4776787"/>
            <a:ext cx="2200275" cy="495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391275" y="4776787"/>
            <a:ext cx="2200275" cy="495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82100" y="4776787"/>
            <a:ext cx="2200275" cy="495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9625" y="4776787"/>
            <a:ext cx="22002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450" y="4776787"/>
            <a:ext cx="22002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91275" y="4776787"/>
            <a:ext cx="22002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82100" y="4776787"/>
            <a:ext cx="22002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528887"/>
            <a:ext cx="228600" cy="2286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2528887"/>
            <a:ext cx="257175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2528887"/>
            <a:ext cx="228600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2528887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COMPORTAMIENTO DEL 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Segmentación por Canal de Distribución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2900362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Online 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25" y="3195637"/>
            <a:ext cx="2295525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47% del volumen global. Mayor sensibilidad de precio.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" y="4900612"/>
            <a:ext cx="275034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CANCELACIÓN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5043487"/>
            <a:ext cx="27503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EF4444"/>
                </a:solidFill>
                <a:latin typeface="Inter"/>
              </a:rPr>
              <a:t>36.3%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450" y="2900362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Offline TA/TO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95637"/>
            <a:ext cx="2295525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20% del volumen. Operación por paquetes tradicionales.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450" y="4900612"/>
            <a:ext cx="275034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CANCELACIÓN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450" y="5043487"/>
            <a:ext cx="27503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34.1%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275" y="2900362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Directo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275" y="3195637"/>
            <a:ext cx="2295525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12% del volumen. Venta directa por web o teléfono.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275" y="4900612"/>
            <a:ext cx="275034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CANCELACIÓN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275" y="5043487"/>
            <a:ext cx="27503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6A34A"/>
                </a:solidFill>
                <a:latin typeface="Inter"/>
              </a:rPr>
              <a:t>15.3%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2100" y="2900362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Corporativo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2100" y="3195637"/>
            <a:ext cx="2295525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5% del volumen. Estancias breves y menor anticipación.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2100" y="4900612"/>
            <a:ext cx="2750343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0F172A"/>
                </a:solidFill>
                <a:latin typeface="Inter"/>
              </a:rPr>
              <a:t>CANCELACIÓN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2100" y="5043487"/>
            <a:ext cx="27503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6A34A"/>
                </a:solidFill>
                <a:latin typeface="Inter"/>
              </a:rPr>
              <a:t>18.7%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228850"/>
            <a:ext cx="10972800" cy="981075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400425"/>
            <a:ext cx="10972800" cy="981075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572000"/>
            <a:ext cx="10972800" cy="981075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7725" y="2466975"/>
            <a:ext cx="1428750" cy="504825"/>
          </a:xfrm>
          <a:prstGeom prst="roundRect">
            <a:avLst>
              <a:gd name="adj" fmla="val 2264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7725" y="3638550"/>
            <a:ext cx="1733550" cy="504825"/>
          </a:xfrm>
          <a:prstGeom prst="roundRect">
            <a:avLst>
              <a:gd name="adj" fmla="val 2264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47725" y="4810125"/>
            <a:ext cx="1581150" cy="504825"/>
          </a:xfrm>
          <a:prstGeom prst="roundRect">
            <a:avLst>
              <a:gd name="adj" fmla="val 2264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PATRONES TEMPORALES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Estacionalidad y Curvas de Ocupación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731" y="2619375"/>
            <a:ext cx="132873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5803D"/>
                </a:solidFill>
                <a:latin typeface="Inter"/>
              </a:rPr>
              <a:t>Pico Estival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2619375"/>
            <a:ext cx="13430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5803D"/>
                </a:solidFill>
                <a:latin typeface="Inter"/>
              </a:rPr>
              <a:t>ADR Máximo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631" y="3790950"/>
            <a:ext cx="170973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B45309"/>
                </a:solidFill>
                <a:latin typeface="Inter"/>
              </a:rPr>
              <a:t>Media Estación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86950" y="3790950"/>
            <a:ext cx="182165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B45309"/>
                </a:solidFill>
                <a:latin typeface="Inter"/>
              </a:rPr>
              <a:t>Demanda Estante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681" y="4962525"/>
            <a:ext cx="151923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475569"/>
                </a:solidFill>
                <a:latin typeface="Inter"/>
              </a:rPr>
              <a:t>Valle Invernal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25100" y="4962525"/>
            <a:ext cx="13049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Inter"/>
              </a:rPr>
              <a:t>ADR Mínimo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075" y="2500312"/>
            <a:ext cx="96869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Julio y Agosto (Jul-Aug)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075" y="2757487"/>
            <a:ext cx="944165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Máximo ADR estacional (€130 - €150). Ocupación del Resort supera el 85%.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9875" y="3671887"/>
            <a:ext cx="898862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Mayo, Junio y Septiembre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9875" y="3929062"/>
            <a:ext cx="856059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Mayor proporción de turismo urbano corporativo y reservas europeas.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7475" y="4843462"/>
            <a:ext cx="95345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Noviembre a Febrero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7475" y="5100637"/>
            <a:ext cx="92987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ADR mínimo (€70 - €85). Necesidad de ofertas para mitigar habitaciones vacías.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71750"/>
            <a:ext cx="6621809" cy="2600325"/>
          </a:xfrm>
          <a:prstGeom prst="roundRect">
            <a:avLst>
              <a:gd name="adj" fmla="val 586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36209" y="2876550"/>
            <a:ext cx="4046190" cy="923925"/>
          </a:xfrm>
          <a:prstGeom prst="roundRect">
            <a:avLst>
              <a:gd name="adj" fmla="val 16494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536209" y="3990975"/>
            <a:ext cx="4046190" cy="87630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492406" y="4191000"/>
            <a:ext cx="9525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5825" y="3457575"/>
            <a:ext cx="6069359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85825" y="3905250"/>
            <a:ext cx="6069359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85825" y="4352925"/>
            <a:ext cx="6069359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85825" y="4800600"/>
            <a:ext cx="6069359" cy="952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92406" y="4191000"/>
            <a:ext cx="9525" cy="4762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85825" y="3457575"/>
            <a:ext cx="5158829" cy="952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85825" y="3905250"/>
            <a:ext cx="3641526" cy="952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5825" y="4352925"/>
            <a:ext cx="2913161" cy="952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85825" y="4800600"/>
            <a:ext cx="2184945" cy="952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Inter"/>
              </a:rPr>
              <a:t>MACHINE LEARNING EN COLAB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95325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Modelo Predictivo de Cancelaciones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847975"/>
            <a:ext cx="796603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Variables con Mayor Peso (Feature Importance)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6185" y="3105150"/>
            <a:ext cx="4486237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94A3B8"/>
                </a:solidFill>
                <a:latin typeface="Inter"/>
              </a:rPr>
              <a:t>ALGORITMO DESTACADO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6185" y="3295650"/>
            <a:ext cx="4486237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Inter"/>
              </a:rPr>
              <a:t>XGBoost Classifier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2950" y="4191000"/>
            <a:ext cx="114300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16A34A"/>
                </a:solidFill>
                <a:latin typeface="Inter"/>
              </a:rPr>
              <a:t>84.5%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2950" y="4514850"/>
            <a:ext cx="11430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64748B"/>
                </a:solidFill>
                <a:latin typeface="Inter"/>
              </a:rPr>
              <a:t>Precisión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8387" y="4191000"/>
            <a:ext cx="1266825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2563EB"/>
                </a:solidFill>
                <a:latin typeface="Inter"/>
              </a:rPr>
              <a:t>0.89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8387" y="4514850"/>
            <a:ext cx="12668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64748B"/>
                </a:solidFill>
                <a:latin typeface="Inter"/>
              </a:rPr>
              <a:t>AUC-ROC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825" y="3257550"/>
            <a:ext cx="27146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Lead Time (Tiempo Anticipación)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7034" y="3257550"/>
            <a:ext cx="7239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Inter"/>
              </a:rPr>
              <a:t>28.4%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825" y="3705225"/>
            <a:ext cx="2035968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Country (País de Origen)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5609" y="3705225"/>
            <a:ext cx="6953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Inter"/>
              </a:rPr>
              <a:t>18.2%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825" y="4152900"/>
            <a:ext cx="26431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Deposit Type (Tipo de Depósito)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5134" y="4152900"/>
            <a:ext cx="6858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Inter"/>
              </a:rPr>
              <a:t>14.7%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825" y="4600575"/>
            <a:ext cx="34051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Inter"/>
              </a:rPr>
              <a:t>Special Requests (Solicitudes Especiales)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2284" y="4600575"/>
            <a:ext cx="6286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Inter"/>
              </a:rPr>
              <a:t>11.1%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953000" y="1835497"/>
            <a:ext cx="2286000" cy="295275"/>
          </a:xfrm>
          <a:prstGeom prst="roundRect">
            <a:avLst>
              <a:gd name="adj" fmla="val 50000"/>
            </a:avLst>
          </a:prstGeom>
          <a:solidFill>
            <a:srgbClr val="372A23"/>
          </a:solidFill>
          <a:ln w="9525">
            <a:solidFill>
              <a:srgbClr val="6B4D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19650" y="1892647"/>
            <a:ext cx="25527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F59E0B"/>
                </a:solidFill>
                <a:latin typeface="Inter"/>
              </a:rPr>
              <a:t>Recomendaciones Operativas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835" y="2321272"/>
            <a:ext cx="10626328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959"/>
              </a:lnSpc>
            </a:pPr>
            <a:r>
              <a:rPr sz="3300" b="1" i="0" u="none">
                <a:solidFill>
                  <a:srgbClr val="FFFFFF"/>
                </a:solidFill>
                <a:latin typeface="Plus Jakarta Sans"/>
              </a:rPr>
              <a:t>Optimizando la Rentabilidad Hotelera con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31156" y="3555652"/>
            <a:ext cx="892968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CBD5E1"/>
                </a:solidFill>
                <a:latin typeface="Inter"/>
              </a:rPr>
              <a:t>Políticas de depósito dinámicas para reservas con lead time &gt;90 días y sobrecargo estratégico según canal de distribución.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533</Words>
  <Application>Microsoft Office PowerPoint</Application>
  <PresentationFormat>Widescreen</PresentationFormat>
  <Paragraphs>113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Plus Jakarta Sans</vt:lpstr>
      <vt:lpstr>Inter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Yañez</cp:lastModifiedBy>
  <cp:revision>2</cp:revision>
  <dcterms:created xsi:type="dcterms:W3CDTF">2013-01-27T09:14:16Z</dcterms:created>
  <dcterms:modified xsi:type="dcterms:W3CDTF">2026-10-26T13:07:44Z</dcterms:modified>
  <cp:category/>
</cp:coreProperties>
</file>