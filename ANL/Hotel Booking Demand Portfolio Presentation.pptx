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Inter"/>
      <ns0:bold ns1:id="rIdFont18"/>
      <ns0:regular ns1:id="rIdFont19"/>
    </ns0:embeddedFont>
    <ns0:embeddedFont>
      <ns0:font typeface="Fira Code"/>
      <ns0:bold ns1:id="rIdFont20"/>
      <ns0:regular ns1:id="rIdFont21"/>
    </ns0:embeddedFont>
    <ns0:embeddedFont>
      <ns0:font typeface="Plus Jakarta Sans"/>
      <ns0:bold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104c668e-fec9-454c-82dd-6e1e28e499c3.fntdata" /><ns0:Relationship Id="rIdFont19" Type="http://schemas.openxmlformats.org/officeDocument/2006/relationships/font" Target="fonts/14e4c006-4ad7-46f3-a066-85d267fb9153.fntdata" /><ns0:Relationship Id="rIdFont20" Type="http://schemas.openxmlformats.org/officeDocument/2006/relationships/font" Target="fonts/7027d480-df19-425a-834e-5c7b40bf7ca7.fntdata" /><ns0:Relationship Id="rIdFont21" Type="http://schemas.openxmlformats.org/officeDocument/2006/relationships/font" Target="fonts/af290e1b-0737-46ba-b7f5-500c96bf644b.fntdata" /><ns0:Relationship Id="rIdFont22" Type="http://schemas.openxmlformats.org/officeDocument/2006/relationships/font" Target="fonts/05753d1a-9b6b-4b7d-bd5e-2d5d579a8c9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237583"/>
            <a:ext cx="109728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10816"/>
            <a:ext cx="3181350" cy="295275"/>
          </a:xfrm>
          <a:prstGeom prst="roundRect">
            <a:avLst>
              <a:gd name="adj" fmla="val 50000"/>
            </a:avLst>
          </a:prstGeom>
          <a:solidFill>
            <a:srgbClr val="372A23"/>
          </a:solidFill>
          <a:ln w="9525">
            <a:solidFill>
              <a:srgbClr val="6B4D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237583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096541"/>
            <a:ext cx="133350" cy="133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85245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650" y="4585245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585245"/>
            <a:ext cx="23812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2534691"/>
            <a:ext cx="11251406" cy="5447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Hotel Booking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269902"/>
            <a:ext cx="7905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Análisis predictivo de cancelaciones, comportamiento del cliente y optimización de KPIs de revenue (ADR &amp; RevPAR).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067966"/>
            <a:ext cx="2971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59E0B"/>
                </a:solidFill>
                <a:latin typeface="Inter"/>
              </a:rPr>
              <a:t>Caso de Estudio | Data Science Portfolio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5250" y="2077491"/>
            <a:ext cx="18692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Google Colab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4513808"/>
            <a:ext cx="16668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Inter"/>
              </a:rPr>
              <a:t>VOLUMEN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4656683"/>
            <a:ext cx="1666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119,390 Registros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8450" y="4513808"/>
            <a:ext cx="17859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Inter"/>
              </a:rPr>
              <a:t>PROPIEDADES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8450" y="4656683"/>
            <a:ext cx="1785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City &amp; Resort Hotel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4425" y="4513808"/>
            <a:ext cx="220265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Inter"/>
              </a:rPr>
              <a:t>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24425" y="4656683"/>
            <a:ext cx="22026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Python · DAX · SQL · 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14587"/>
            <a:ext cx="52959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62337"/>
            <a:ext cx="52959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510087"/>
            <a:ext cx="52959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081212"/>
            <a:ext cx="5295900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61461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66236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710112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162" y="2747962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687" y="3795712"/>
            <a:ext cx="2190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" y="4843462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ORIGEN DE LOS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Estructura del Dataset de Hospitalidad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9225" y="2633662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City Hotel (Urbano)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9225" y="2871787"/>
            <a:ext cx="3690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66.4% del volumen total (~79,330 reservas)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9225" y="3681412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Resort Hotel (Playa)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9225" y="3919537"/>
            <a:ext cx="3714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33.6% del volumen total (~40,060 reservas)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9225" y="4729162"/>
            <a:ext cx="476309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31 Variables Operativas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9225" y="4967287"/>
            <a:ext cx="45362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Lead time, tarifa ADR, canal, peticiones y cancelación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90762"/>
            <a:ext cx="3505200" cy="323850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290762"/>
            <a:ext cx="3505200" cy="323850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290762"/>
            <a:ext cx="3505200" cy="323850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4938712"/>
            <a:ext cx="1590675" cy="276225"/>
          </a:xfrm>
          <a:prstGeom prst="roundRect">
            <a:avLst>
              <a:gd name="adj" fmla="val 2758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81525" y="4938712"/>
            <a:ext cx="1647825" cy="276225"/>
          </a:xfrm>
          <a:prstGeom prst="roundRect">
            <a:avLst>
              <a:gd name="adj" fmla="val 27586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15325" y="4938712"/>
            <a:ext cx="1504950" cy="276225"/>
          </a:xfrm>
          <a:prstGeom prst="roundRect">
            <a:avLst>
              <a:gd name="adj" fmla="val 27586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605087"/>
            <a:ext cx="495300" cy="49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2605087"/>
            <a:ext cx="495300" cy="495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2605087"/>
            <a:ext cx="495300" cy="4953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747962"/>
            <a:ext cx="26670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2747962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625" y="2747962"/>
            <a:ext cx="26670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PROPÓSITO COMERCIAL &amp;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Objetivos Estratégicos del 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995862"/>
            <a:ext cx="14573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Inter"/>
              </a:rPr>
              <a:t>Mitigación de Riesgo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5825" y="4995862"/>
            <a:ext cx="15144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Inter"/>
              </a:rPr>
              <a:t>Maximización EBITDA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9625" y="4995862"/>
            <a:ext cx="1371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Optimización Canal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290887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Patrones de Cancelación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643312"/>
            <a:ext cx="31242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Identificación de disparadores en tiempo de anticipación y políticas de depósito.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525" y="3290887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KPIs de 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525" y="3643312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Evaluación continua de tarifa promedio diaria (ADR) e ingresos por habitación (RevPAR).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5325" y="3290887"/>
            <a:ext cx="38766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Rendimiento de Canales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5325" y="3643312"/>
            <a:ext cx="31242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Comparativa de conversión y lealtad entre agencias online, corporativos y venta directa.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67012"/>
            <a:ext cx="5334000" cy="220980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438400"/>
            <a:ext cx="5334000" cy="2867025"/>
          </a:xfrm>
          <a:prstGeom prst="roundRect">
            <a:avLst>
              <a:gd name="adj" fmla="val 53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24625" y="3124200"/>
            <a:ext cx="4781550" cy="876300"/>
          </a:xfrm>
          <a:prstGeom prst="roundRect">
            <a:avLst>
              <a:gd name="adj" fmla="val 108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24625" y="4152900"/>
            <a:ext cx="4781550" cy="876300"/>
          </a:xfrm>
          <a:prstGeom prst="roundRect">
            <a:avLst>
              <a:gd name="adj" fmla="val 108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3671887"/>
            <a:ext cx="4781550" cy="952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825" y="4138612"/>
            <a:ext cx="4781550" cy="952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825" y="4605337"/>
            <a:ext cx="4781550" cy="952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24625" y="3124200"/>
            <a:ext cx="38100" cy="8763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24625" y="4152900"/>
            <a:ext cx="38100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5825" y="3671887"/>
            <a:ext cx="812750" cy="9525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5825" y="4138612"/>
            <a:ext cx="1529953" cy="952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5825" y="4605337"/>
            <a:ext cx="2295078" cy="952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67050"/>
            <a:ext cx="1714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738437"/>
            <a:ext cx="13335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ANÁLISIS DE FUGAS DE INGRESOS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Drivers Críticos de Cancelación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475" y="3043237"/>
            <a:ext cx="6015751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Tasa por Lead Time (Días)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4175" y="2714625"/>
            <a:ext cx="545782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Impacto Tipo de Depósito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5" y="3276600"/>
            <a:ext cx="5476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Sin Depósito (No Deposit)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5125" y="3476625"/>
            <a:ext cx="547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F4444"/>
                </a:solidFill>
                <a:latin typeface="Inter"/>
              </a:rPr>
              <a:t>36.7% Cancelación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5125" y="3695700"/>
            <a:ext cx="5476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Representa el 88% del volumen global de reservas.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5125" y="4305300"/>
            <a:ext cx="5476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No Reembolsable (Non Refund)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5125" y="4505325"/>
            <a:ext cx="547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97706"/>
                </a:solidFill>
                <a:latin typeface="Inter"/>
              </a:rPr>
              <a:t>98.8% Registrado*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5125" y="4724400"/>
            <a:ext cx="5476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Sesgo por reservas masivas del segmento agencias grupal.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25" y="3452812"/>
            <a:ext cx="10096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0 - 30 Días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9600" y="3452812"/>
            <a:ext cx="15597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Inter"/>
              </a:rPr>
              <a:t>16.8% Cancelación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825" y="3919537"/>
            <a:ext cx="10668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31 - 90 Días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1025" y="3919537"/>
            <a:ext cx="1595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32.4% Cancelación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825" y="4386262"/>
            <a:ext cx="9620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&gt; 100 Días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9125" y="4386262"/>
            <a:ext cx="1547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Inter"/>
              </a:rPr>
              <a:t>48.1% Cancelación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8000"/>
            <a:ext cx="10972800" cy="3352800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81125"/>
            <a:ext cx="3505200" cy="1362075"/>
          </a:xfrm>
          <a:prstGeom prst="roundRect">
            <a:avLst>
              <a:gd name="adj" fmla="val 97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1381125"/>
            <a:ext cx="3505200" cy="1362075"/>
          </a:xfrm>
          <a:prstGeom prst="roundRect">
            <a:avLst>
              <a:gd name="adj" fmla="val 97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1381125"/>
            <a:ext cx="3505200" cy="1362075"/>
          </a:xfrm>
          <a:prstGeom prst="roundRect">
            <a:avLst>
              <a:gd name="adj" fmla="val 97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4710112"/>
            <a:ext cx="10496550" cy="1143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5195887"/>
            <a:ext cx="10496550" cy="1143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7725" y="4710112"/>
            <a:ext cx="8502104" cy="114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7725" y="5195887"/>
            <a:ext cx="7662416" cy="114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371725"/>
            <a:ext cx="95250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2371725"/>
            <a:ext cx="12382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2371725"/>
            <a:ext cx="152400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MÉTRICAS DE RENDIMIENTO HOTELERO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Tablero de KPIs Financieros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138612"/>
            <a:ext cx="11344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Comparativa ADR por Tipo de Propiedad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1619250"/>
            <a:ext cx="3786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ADR PROMEDIO GLOBAL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1847850"/>
            <a:ext cx="3786187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€101.83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2352675"/>
            <a:ext cx="3786187" cy="15240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Inter"/>
              </a:rPr>
              <a:t>Tarifa Neta Diaria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525" y="1619250"/>
            <a:ext cx="3786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TASA DE CANCELACIÓN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525" y="1847850"/>
            <a:ext cx="3786187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DC2626"/>
                </a:solidFill>
                <a:latin typeface="Inter"/>
              </a:rPr>
              <a:t>37.0%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525" y="2352675"/>
            <a:ext cx="3786187" cy="15240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Inter"/>
              </a:rPr>
              <a:t>44,224 Cancelaciones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325" y="1619250"/>
            <a:ext cx="3786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REVPAR AJUSTADO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5325" y="1847850"/>
            <a:ext cx="3786187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2563EB"/>
                </a:solidFill>
                <a:latin typeface="Inter"/>
              </a:rPr>
              <a:t>€64.15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5325" y="2352675"/>
            <a:ext cx="3786187" cy="152400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Ingreso / Hab. Disponible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4491037"/>
            <a:ext cx="21550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City Hotel (ADR Promedio)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1350" y="4491037"/>
            <a:ext cx="8286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€105.30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4976812"/>
            <a:ext cx="23693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Resort Hotel (ADR Promedio)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58500" y="4976812"/>
            <a:ext cx="7715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€94.95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71712"/>
            <a:ext cx="2600325" cy="32385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271712"/>
            <a:ext cx="2600325" cy="32385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271712"/>
            <a:ext cx="2600325" cy="32385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271712"/>
            <a:ext cx="2600325" cy="32385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9625" y="4776787"/>
            <a:ext cx="2200275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450" y="4776787"/>
            <a:ext cx="2200275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91275" y="4776787"/>
            <a:ext cx="2200275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82100" y="4776787"/>
            <a:ext cx="2200275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625" y="4776787"/>
            <a:ext cx="22002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450" y="4776787"/>
            <a:ext cx="22002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91275" y="4776787"/>
            <a:ext cx="22002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82100" y="4776787"/>
            <a:ext cx="22002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528887"/>
            <a:ext cx="22860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2528887"/>
            <a:ext cx="25717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528887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2100" y="2528887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COMPORTAMIENTO DEL CLIENTE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Segmentación por Canal de Distribución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2900362"/>
            <a:ext cx="288786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Online 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3195637"/>
            <a:ext cx="22955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47% del volumen global. Mayor sensibilidad de precio.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4900612"/>
            <a:ext cx="27503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CANCELACIÓN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5043487"/>
            <a:ext cx="2750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F4444"/>
                </a:solidFill>
                <a:latin typeface="Inter"/>
              </a:rPr>
              <a:t>36.3%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450" y="2900362"/>
            <a:ext cx="288786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Offline TA/TO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450" y="3195637"/>
            <a:ext cx="22955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20% del volumen. Operación por paquetes tradicionales.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450" y="4900612"/>
            <a:ext cx="27503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CANCELACIÓN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450" y="5043487"/>
            <a:ext cx="2750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34.1%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275" y="2900362"/>
            <a:ext cx="288786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Directo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275" y="3195637"/>
            <a:ext cx="22955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12% del volumen. Venta directa por web o teléfono.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275" y="4900612"/>
            <a:ext cx="27503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CANCELACIÓN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275" y="5043487"/>
            <a:ext cx="2750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A34A"/>
                </a:solidFill>
                <a:latin typeface="Inter"/>
              </a:rPr>
              <a:t>15.3%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2100" y="2900362"/>
            <a:ext cx="288786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Corporativo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2100" y="3195637"/>
            <a:ext cx="22955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5% del volumen. Estancias breves y menor anticipación.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2100" y="4900612"/>
            <a:ext cx="27503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CANCELACIÓN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2100" y="5043487"/>
            <a:ext cx="2750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A34A"/>
                </a:solidFill>
                <a:latin typeface="Inter"/>
              </a:rPr>
              <a:t>18.7%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28850"/>
            <a:ext cx="10972800" cy="981075"/>
          </a:xfrm>
          <a:prstGeom prst="roundRect">
            <a:avLst>
              <a:gd name="adj" fmla="val 135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00425"/>
            <a:ext cx="10972800" cy="981075"/>
          </a:xfrm>
          <a:prstGeom prst="roundRect">
            <a:avLst>
              <a:gd name="adj" fmla="val 135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572000"/>
            <a:ext cx="10972800" cy="981075"/>
          </a:xfrm>
          <a:prstGeom prst="roundRect">
            <a:avLst>
              <a:gd name="adj" fmla="val 135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2466975"/>
            <a:ext cx="1428750" cy="504825"/>
          </a:xfrm>
          <a:prstGeom prst="roundRect">
            <a:avLst>
              <a:gd name="adj" fmla="val 2264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3638550"/>
            <a:ext cx="1733550" cy="504825"/>
          </a:xfrm>
          <a:prstGeom prst="roundRect">
            <a:avLst>
              <a:gd name="adj" fmla="val 2264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4810125"/>
            <a:ext cx="1581150" cy="504825"/>
          </a:xfrm>
          <a:prstGeom prst="roundRect">
            <a:avLst>
              <a:gd name="adj" fmla="val 2264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PATRONES TEMPORALES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Estacionalidad y Curvas de Ocupación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731" y="2619375"/>
            <a:ext cx="132873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5803D"/>
                </a:solidFill>
                <a:latin typeface="Inter"/>
              </a:rPr>
              <a:t>Pico Estival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2619375"/>
            <a:ext cx="13430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5803D"/>
                </a:solidFill>
                <a:latin typeface="Inter"/>
              </a:rPr>
              <a:t>ADR Máximo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631" y="3790950"/>
            <a:ext cx="170973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B45309"/>
                </a:solidFill>
                <a:latin typeface="Inter"/>
              </a:rPr>
              <a:t>Media Estación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6950" y="3790950"/>
            <a:ext cx="1821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45309"/>
                </a:solidFill>
                <a:latin typeface="Inter"/>
              </a:rPr>
              <a:t>Demanda Estante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681" y="4962525"/>
            <a:ext cx="151923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475569"/>
                </a:solidFill>
                <a:latin typeface="Inter"/>
              </a:rPr>
              <a:t>Valle Invernal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5100" y="4962525"/>
            <a:ext cx="13049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Inter"/>
              </a:rPr>
              <a:t>ADR Mínimo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5075" y="2500312"/>
            <a:ext cx="96869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Julio y Agosto (Jul-Aug)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5075" y="2757487"/>
            <a:ext cx="94416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Máximo ADR estacional (€130 - €150). Ocupación del Resort supera el 85%.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9875" y="3671887"/>
            <a:ext cx="898862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Mayo, Junio y Septiembre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9875" y="3929062"/>
            <a:ext cx="85605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Mayor proporción de turismo urbano corporativo y reservas europeas.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7475" y="4843462"/>
            <a:ext cx="95345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Noviembre a Febrero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7475" y="5100637"/>
            <a:ext cx="92987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ADR mínimo (€70 - €85). Necesidad de ofertas para mitigar habitaciones vacías.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43025"/>
            <a:ext cx="5372100" cy="5057775"/>
          </a:xfrm>
          <a:prstGeom prst="roundRect">
            <a:avLst>
              <a:gd name="adj" fmla="val 263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343025"/>
            <a:ext cx="5372100" cy="5057775"/>
          </a:xfrm>
          <a:prstGeom prst="roundRect">
            <a:avLst>
              <a:gd name="adj" fmla="val 263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8200" y="5895975"/>
            <a:ext cx="49149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38900" y="5895975"/>
            <a:ext cx="49149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76387"/>
            <a:ext cx="1143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450" y="1576387"/>
            <a:ext cx="13335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INGENIERÍA DE DATOS &amp; MÉTRICAS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Medidas Avanzadas en DAX &amp;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6010275"/>
            <a:ext cx="50101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Calcula la variación interanual del volumen de cancelaciones.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6010275"/>
            <a:ext cx="50101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Calcula el RevPAR efectivo deduciendo cancelaciones por segmento.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47850"/>
            <a:ext cx="5010150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472B6"/>
                </a:solidFill>
                <a:latin typeface="Fira Code"/>
              </a:rPr>
              <a:t>Tasa Cancelacion YoY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= 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VAR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Actual = [Total Cancelaciones] 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VAR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Prev = 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CALCULATE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( [Total Cancelaciones], 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SAMEPERIODLASTYEAR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('Calendario'[Fecha]) ) 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RETURN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DIVIDE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(Actual - Prev, Prev,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1847850"/>
            <a:ext cx="5010150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472B6"/>
                </a:solidFill>
                <a:latin typeface="Fira Code"/>
              </a:rPr>
              <a:t>SELECT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market_segment, 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ROUND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(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AVG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(adr), 2) </a:t>
            </a:r>
            <a:r>
              <a:rPr b="0" sz="975" i="0" u="none">
                <a:solidFill>
                  <a:srgbClr val="F472B6"/>
                </a:solidFill>
                <a:latin typeface="Fira Code"/>
              </a:rPr>
              <a:t>AS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adr_prom, 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ROUND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(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AVG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(1 - is_canceled) * </a:t>
            </a:r>
            <a:r>
              <a:rPr b="0" sz="975" i="0" u="none">
                <a:solidFill>
                  <a:srgbClr val="38BDF8"/>
                </a:solidFill>
                <a:latin typeface="Fira Code"/>
              </a:rPr>
              <a:t>AVG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(adr), 2) </a:t>
            </a:r>
            <a:r>
              <a:rPr b="0" sz="975" i="0" u="none">
                <a:solidFill>
                  <a:srgbClr val="F472B6"/>
                </a:solidFill>
                <a:latin typeface="Fira Code"/>
              </a:rPr>
              <a:t>AS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revpar_est </a:t>
            </a:r>
            <a:r>
              <a:rPr b="0" sz="975" i="0" u="none">
                <a:solidFill>
                  <a:srgbClr val="F472B6"/>
                </a:solidFill>
                <a:latin typeface="Fira Code"/>
              </a:rPr>
              <a:t>FROM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hotel_bookings </a:t>
            </a:r>
            <a:r>
              <a:rPr b="0" sz="975" i="0" u="none">
                <a:solidFill>
                  <a:srgbClr val="F472B6"/>
                </a:solidFill>
                <a:latin typeface="Fira Code"/>
              </a:rPr>
              <a:t>GROUP BY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market_segment;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1571625"/>
            <a:ext cx="1047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Fira Code"/>
              </a:rPr>
              <a:t>MEDIDA DAX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1571625"/>
            <a:ext cx="12001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59E0B"/>
                </a:solidFill>
                <a:latin typeface="Fira Code"/>
              </a:rPr>
              <a:t>CONSULTA SQL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71750"/>
            <a:ext cx="6621809" cy="2600325"/>
          </a:xfrm>
          <a:prstGeom prst="roundRect">
            <a:avLst>
              <a:gd name="adj" fmla="val 58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36209" y="2876550"/>
            <a:ext cx="4046190" cy="923925"/>
          </a:xfrm>
          <a:prstGeom prst="roundRect">
            <a:avLst>
              <a:gd name="adj" fmla="val 1649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36209" y="3990975"/>
            <a:ext cx="404619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92406" y="4191000"/>
            <a:ext cx="9525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3457575"/>
            <a:ext cx="6069359" cy="952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825" y="3905250"/>
            <a:ext cx="6069359" cy="952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825" y="4352925"/>
            <a:ext cx="6069359" cy="952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5825" y="4800600"/>
            <a:ext cx="6069359" cy="952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92406" y="4191000"/>
            <a:ext cx="9525" cy="476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5825" y="3457575"/>
            <a:ext cx="5158829" cy="952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5825" y="3905250"/>
            <a:ext cx="3641526" cy="952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5825" y="4352925"/>
            <a:ext cx="2913161" cy="952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5825" y="4800600"/>
            <a:ext cx="2184945" cy="952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MACHINE LEARNING EN COLAB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Modelo Predictivo de Cancelaciones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2847975"/>
            <a:ext cx="796603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Variables con Mayor Peso (Feature Importance)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6185" y="3105150"/>
            <a:ext cx="44862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94A3B8"/>
                </a:solidFill>
                <a:latin typeface="Inter"/>
              </a:rPr>
              <a:t>ALGORITMO DESTACADO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6185" y="3295650"/>
            <a:ext cx="44862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Inter"/>
              </a:rPr>
              <a:t>XGBoost Classifier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2950" y="4191000"/>
            <a:ext cx="11430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16A34A"/>
                </a:solidFill>
                <a:latin typeface="Inter"/>
              </a:rPr>
              <a:t>84.5%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2950" y="4514850"/>
            <a:ext cx="1143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4748B"/>
                </a:solidFill>
                <a:latin typeface="Inter"/>
              </a:rPr>
              <a:t>Precisión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58387" y="4191000"/>
            <a:ext cx="12668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2563EB"/>
                </a:solidFill>
                <a:latin typeface="Inter"/>
              </a:rPr>
              <a:t>0.89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58387" y="4514850"/>
            <a:ext cx="12668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4748B"/>
                </a:solidFill>
                <a:latin typeface="Inter"/>
              </a:rPr>
              <a:t>AUC-ROC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825" y="3257550"/>
            <a:ext cx="2714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Lead Time (Tiempo Anticipación)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7034" y="3257550"/>
            <a:ext cx="7239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28.4%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25" y="3705225"/>
            <a:ext cx="2035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Country (País de Origen)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5609" y="3705225"/>
            <a:ext cx="6953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18.2%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825" y="4152900"/>
            <a:ext cx="2643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Deposit Type (Tipo de Depósito)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5134" y="4152900"/>
            <a:ext cx="6858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14.7%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825" y="4600575"/>
            <a:ext cx="3405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Special Requests (Solicitudes Especiales)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2284" y="4600575"/>
            <a:ext cx="6286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11.1%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0" y="1835497"/>
            <a:ext cx="2286000" cy="295275"/>
          </a:xfrm>
          <a:prstGeom prst="roundRect">
            <a:avLst>
              <a:gd name="adj" fmla="val 50000"/>
            </a:avLst>
          </a:prstGeom>
          <a:solidFill>
            <a:srgbClr val="372A23"/>
          </a:solidFill>
          <a:ln w="9525">
            <a:solidFill>
              <a:srgbClr val="6B4D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76737" y="4508152"/>
            <a:ext cx="3438525" cy="51435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962" y="4670077"/>
            <a:ext cx="17145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19650" y="1892647"/>
            <a:ext cx="25527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59E0B"/>
                </a:solidFill>
                <a:latin typeface="Inter"/>
              </a:rPr>
              <a:t>Recomendaciones Operativas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835" y="2321272"/>
            <a:ext cx="10626328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FFFFFF"/>
                </a:solidFill>
                <a:latin typeface="Plus Jakarta Sans"/>
              </a:rPr>
              <a:t>Optimizando la Rentabilidad Hotelera con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31156" y="3555652"/>
            <a:ext cx="892968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Políticas de depósito dinámicas para reservas con lead time &gt;90 días y sobrecargo estratégico según canal de distribución.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3671" y="4674840"/>
            <a:ext cx="32504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8FAFC"/>
                </a:solidFill>
                <a:latin typeface="Inter"/>
              </a:rPr>
              <a:t>Notebook Disponible en Google Colab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42987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https://interiordesign.net/wp-content/uploads/2023/01/Interior-Design-Belzberg-Architects-Xoma-Mexico-City-idx230101_boy_Hotel_Boutique02.jpg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43012"/>
            <a:ext cx="2309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interiordesign.net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